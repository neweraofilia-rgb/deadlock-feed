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 type="screen16x9"/>
  <p:notesSz cx="6858000" cy="9144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/>
  <p:slideViewPr/>
  <p:notesTextViewPr>
    <a:cSldViewPr>
      <a:cViewPr varScale="1">
        <a:scale sx="100" sy="100"/>
        <a:origin x="0" y="0"/>
      </a:cViewPr>
    </a:cSld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ndust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</p:bodyStyle>
    <p:otherStyle>
      <a:defPPr>
        <a:defRPr lang="ru-RU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85800" y="658368"/>
            <a:ext cx="1371600" cy="41148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85800" y="8229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МУЗЕИ РОССИИ  •  ПРОМЫШЛЕННОЕ НАСЛЕДИЕ</a:t>
            </a:r>
            <a:endParaRPr lang="ru-RU" sz="1100"/>
          </a:p>
        </p:txBody>
      </p:sp>
      <p:sp>
        <p:nvSpPr>
          <p:cNvPr id="6" name="Text 6"/>
          <p:cNvSpPr txBox="1"/>
          <p:nvPr/>
        </p:nvSpPr>
        <p:spPr>
          <a:xfrm>
            <a:off x="658368" y="1417320"/>
            <a:ext cx="598932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0"/>
              </a:spcAft>
            </a:pPr>
            <a:r>
              <a:rPr lang="ru-RU" sz="47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ЗАВОД</a:t>
            </a:r>
            <a:endParaRPr lang="ru-RU" sz="4700"/>
          </a:p>
          <a:p>
            <a:pPr algn="l">
              <a:spcAft>
                <a:spcPts val="400"/>
              </a:spcAft>
            </a:pPr>
            <a:r>
              <a:rPr lang="ru-RU" sz="47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КАК МУЗЕЙ</a:t>
            </a:r>
            <a:endParaRPr lang="ru-RU" sz="4700"/>
          </a:p>
        </p:txBody>
      </p:sp>
      <p:sp>
        <p:nvSpPr>
          <p:cNvPr id="7" name="Text 7"/>
          <p:cNvSpPr txBox="1"/>
          <p:nvPr/>
        </p:nvSpPr>
        <p:spPr>
          <a:xfrm>
            <a:off x="704088" y="336499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Музеи промышленной культуры России</a:t>
            </a:r>
            <a:endParaRPr lang="ru-RU" sz="2200"/>
          </a:p>
        </p:txBody>
      </p:sp>
      <p:sp>
        <p:nvSpPr>
          <p:cNvPr id="8" name="Shape 8"/>
          <p:cNvSpPr/>
          <p:nvPr/>
        </p:nvSpPr>
        <p:spPr>
          <a:xfrm>
            <a:off x="685800" y="5120640"/>
            <a:ext cx="4343400" cy="86868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932688" y="529437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ЗИНОВ ИЛЬЯ</a:t>
            </a:r>
            <a:endParaRPr lang="ru-RU" sz="1500"/>
          </a:p>
        </p:txBody>
      </p:sp>
      <p:sp>
        <p:nvSpPr>
          <p:cNvPr id="10" name="Text 10"/>
          <p:cNvSpPr txBox="1"/>
          <p:nvPr/>
        </p:nvSpPr>
        <p:spPr>
          <a:xfrm>
            <a:off x="932688" y="559612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>
                <a:solidFill>
                  <a:srgbClr val="AEB6BC"/>
                </a:solidFill>
                <a:latin typeface="Arial"/>
                <a:ea typeface="Arial"/>
                <a:cs typeface="Arial"/>
              </a:rPr>
              <a:t>ученик 10 «Б» класса</a:t>
            </a:r>
            <a:endParaRPr lang="ru-RU" sz="1100"/>
          </a:p>
        </p:txBody>
      </p:sp>
      <p:sp>
        <p:nvSpPr>
          <p:cNvPr id="11" name="Shape 11"/>
          <p:cNvSpPr/>
          <p:nvPr/>
        </p:nvSpPr>
        <p:spPr>
          <a:xfrm>
            <a:off x="6766560" y="3017520"/>
            <a:ext cx="5440680" cy="3840480"/>
          </a:xfrm>
          <a:prstGeom prst="rect">
            <a:avLst/>
          </a:prstGeom>
          <a:solidFill>
            <a:srgbClr val="111316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6995160" y="5440680"/>
            <a:ext cx="4846320" cy="45720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7132320" y="4114800"/>
            <a:ext cx="1234440" cy="1325880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360920" y="2926080"/>
            <a:ext cx="292608" cy="1188720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7790688" y="3429000"/>
            <a:ext cx="411480" cy="713232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8412480" y="3685032"/>
            <a:ext cx="1572768" cy="1755648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8641080" y="2377440"/>
            <a:ext cx="292608" cy="1325880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9144000" y="2971800"/>
            <a:ext cx="411480" cy="713232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10104120" y="3931920"/>
            <a:ext cx="1371600" cy="1508760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10469880" y="2743200"/>
            <a:ext cx="301752" cy="1188720"/>
          </a:xfrm>
          <a:prstGeom prst="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7315200" y="4617720"/>
            <a:ext cx="256032" cy="256032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8101584" y="4617720"/>
            <a:ext cx="256032" cy="256032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8887968" y="4617720"/>
            <a:ext cx="256032" cy="256032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9674352" y="4617720"/>
            <a:ext cx="256032" cy="256032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10460736" y="4617720"/>
            <a:ext cx="256032" cy="256032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 rot="-480000">
            <a:off x="7178040" y="4251960"/>
            <a:ext cx="4389120" cy="32004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 rot="480000">
            <a:off x="7178040" y="3822192"/>
            <a:ext cx="4389120" cy="32004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11155680" y="2286000"/>
            <a:ext cx="685800" cy="274320"/>
          </a:xfrm>
          <a:prstGeom prst="roundRect">
            <a:avLst/>
          </a:prstGeom>
          <a:solidFill>
            <a:srgbClr val="C85C38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438912"/>
            <a:ext cx="100584" cy="100584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76656" y="3383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ПОНЯТИЕ</a:t>
            </a:r>
            <a:endParaRPr lang="ru-RU" sz="1000"/>
          </a:p>
        </p:txBody>
      </p:sp>
      <p:sp>
        <p:nvSpPr>
          <p:cNvPr id="5" name="Text 5"/>
          <p:cNvSpPr txBox="1"/>
          <p:nvPr/>
        </p:nvSpPr>
        <p:spPr>
          <a:xfrm>
            <a:off x="502920" y="694944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Что хранит промышленная культура?</a:t>
            </a:r>
            <a:endParaRPr lang="ru-RU" sz="2800"/>
          </a:p>
        </p:txBody>
      </p:sp>
      <p:sp>
        <p:nvSpPr>
          <p:cNvPr id="6" name="Shape 6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Зинов Илья  •  10 «Б»</a:t>
            </a:r>
            <a:endParaRPr lang="ru-RU" sz="900"/>
          </a:p>
        </p:txBody>
      </p:sp>
      <p:sp>
        <p:nvSpPr>
          <p:cNvPr id="8" name="Text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02</a:t>
            </a:r>
            <a:endParaRPr lang="ru-RU" sz="1000"/>
          </a:p>
        </p:txBody>
      </p:sp>
      <p:sp>
        <p:nvSpPr>
          <p:cNvPr id="9" name="Text 9"/>
          <p:cNvSpPr txBox="1"/>
          <p:nvPr/>
        </p:nvSpPr>
        <p:spPr>
          <a:xfrm>
            <a:off x="548640" y="1572768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000">
                <a:solidFill>
                  <a:srgbClr val="F4F0E8"/>
                </a:solidFill>
                <a:latin typeface="Arial"/>
                <a:ea typeface="Arial"/>
                <a:cs typeface="Arial"/>
              </a:rPr>
              <a:t>Это наследие производства: здания, машины, технологии и истории людей, которые создавали промышленную Россию.</a:t>
            </a:r>
            <a:endParaRPr lang="ru-RU" sz="2000"/>
          </a:p>
        </p:txBody>
      </p:sp>
      <p:sp>
        <p:nvSpPr>
          <p:cNvPr id="10" name="Shape 10"/>
          <p:cNvSpPr/>
          <p:nvPr/>
        </p:nvSpPr>
        <p:spPr>
          <a:xfrm>
            <a:off x="548640" y="2788920"/>
            <a:ext cx="3246120" cy="242316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77240" y="3017520"/>
            <a:ext cx="530352" cy="530352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77240" y="31272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ru-RU" sz="1000"/>
          </a:p>
        </p:txBody>
      </p:sp>
      <p:sp>
        <p:nvSpPr>
          <p:cNvPr id="13" name="Text 13"/>
          <p:cNvSpPr txBox="1"/>
          <p:nvPr/>
        </p:nvSpPr>
        <p:spPr>
          <a:xfrm>
            <a:off x="777240" y="369417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ПРОСТРАНСТВО</a:t>
            </a:r>
            <a:endParaRPr lang="ru-RU" sz="1500"/>
          </a:p>
        </p:txBody>
      </p:sp>
      <p:sp>
        <p:nvSpPr>
          <p:cNvPr id="14" name="Text 14"/>
          <p:cNvSpPr txBox="1"/>
          <p:nvPr/>
        </p:nvSpPr>
        <p:spPr>
          <a:xfrm>
            <a:off x="777240" y="4178808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Цеха, домны, шахты,</a:t>
            </a:r>
            <a:endParaRPr lang="ru-RU" sz="1300"/>
          </a:p>
          <a:p>
            <a:pPr algn="l">
              <a:spcAft>
                <a:spcPts val="1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плотины и заводские посёлки</a:t>
            </a:r>
            <a:endParaRPr lang="ru-RU" sz="1300"/>
          </a:p>
        </p:txBody>
      </p:sp>
      <p:sp>
        <p:nvSpPr>
          <p:cNvPr id="15" name="Shape 15"/>
          <p:cNvSpPr/>
          <p:nvPr/>
        </p:nvSpPr>
        <p:spPr>
          <a:xfrm>
            <a:off x="4096512" y="2788920"/>
            <a:ext cx="3246120" cy="242316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6" name="Shape 16"/>
          <p:cNvSpPr/>
          <p:nvPr/>
        </p:nvSpPr>
        <p:spPr>
          <a:xfrm>
            <a:off x="4325112" y="3017520"/>
            <a:ext cx="530352" cy="530352"/>
          </a:xfrm>
          <a:prstGeom prst="ellipse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4325112" y="31272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ru-RU" sz="1000"/>
          </a:p>
        </p:txBody>
      </p:sp>
      <p:sp>
        <p:nvSpPr>
          <p:cNvPr id="18" name="Text 18"/>
          <p:cNvSpPr txBox="1"/>
          <p:nvPr/>
        </p:nvSpPr>
        <p:spPr>
          <a:xfrm>
            <a:off x="4325112" y="369417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ТЕХНОЛОГИИ</a:t>
            </a:r>
            <a:endParaRPr lang="ru-RU" sz="1500"/>
          </a:p>
        </p:txBody>
      </p:sp>
      <p:sp>
        <p:nvSpPr>
          <p:cNvPr id="19" name="Text 19"/>
          <p:cNvSpPr txBox="1"/>
          <p:nvPr/>
        </p:nvSpPr>
        <p:spPr>
          <a:xfrm>
            <a:off x="4325112" y="4178808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Станки, механизмы,</a:t>
            </a:r>
            <a:endParaRPr lang="ru-RU" sz="1300"/>
          </a:p>
          <a:p>
            <a:pPr algn="l">
              <a:spcAft>
                <a:spcPts val="1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чертежи и готовая продукция</a:t>
            </a:r>
            <a:endParaRPr lang="ru-RU" sz="1300"/>
          </a:p>
        </p:txBody>
      </p:sp>
      <p:sp>
        <p:nvSpPr>
          <p:cNvPr id="20" name="Shape 20"/>
          <p:cNvSpPr/>
          <p:nvPr/>
        </p:nvSpPr>
        <p:spPr>
          <a:xfrm>
            <a:off x="7644384" y="2788920"/>
            <a:ext cx="3246120" cy="242316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872984" y="3017520"/>
            <a:ext cx="530352" cy="530352"/>
          </a:xfrm>
          <a:prstGeom prst="ellipse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872984" y="31272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ru-RU" sz="1000"/>
          </a:p>
        </p:txBody>
      </p:sp>
      <p:sp>
        <p:nvSpPr>
          <p:cNvPr id="23" name="Text 23"/>
          <p:cNvSpPr txBox="1"/>
          <p:nvPr/>
        </p:nvSpPr>
        <p:spPr>
          <a:xfrm>
            <a:off x="7872984" y="369417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ЛЮДИ</a:t>
            </a:r>
            <a:endParaRPr lang="ru-RU" sz="1500"/>
          </a:p>
        </p:txBody>
      </p:sp>
      <p:sp>
        <p:nvSpPr>
          <p:cNvPr id="24" name="Text 24"/>
          <p:cNvSpPr txBox="1"/>
          <p:nvPr/>
        </p:nvSpPr>
        <p:spPr>
          <a:xfrm>
            <a:off x="7872984" y="4178808"/>
            <a:ext cx="2761488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Профессии, традиции,</a:t>
            </a:r>
            <a:endParaRPr lang="ru-RU" sz="1300"/>
          </a:p>
          <a:p>
            <a:pPr algn="l">
              <a:spcAft>
                <a:spcPts val="1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условия труда и личные истории</a:t>
            </a:r>
            <a:endParaRPr lang="ru-RU" sz="1300"/>
          </a:p>
        </p:txBody>
      </p:sp>
      <p:sp>
        <p:nvSpPr>
          <p:cNvPr id="25" name="Shape 25"/>
          <p:cNvSpPr/>
          <p:nvPr/>
        </p:nvSpPr>
        <p:spPr>
          <a:xfrm>
            <a:off x="548640" y="5577840"/>
            <a:ext cx="10341864" cy="566928"/>
          </a:xfrm>
          <a:prstGeom prst="round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77240" y="5715000"/>
            <a:ext cx="99212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Главный экспонат такого музея иногда — целое предприятие.</a:t>
            </a:r>
            <a:endParaRPr lang="ru-RU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438912"/>
            <a:ext cx="100584" cy="100584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76656" y="3383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ПРИНЦИП</a:t>
            </a:r>
            <a:endParaRPr lang="ru-RU" sz="1000"/>
          </a:p>
        </p:txBody>
      </p:sp>
      <p:sp>
        <p:nvSpPr>
          <p:cNvPr id="5" name="Text 5"/>
          <p:cNvSpPr txBox="1"/>
          <p:nvPr/>
        </p:nvSpPr>
        <p:spPr>
          <a:xfrm>
            <a:off x="502920" y="694944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Как завод становится музеем</a:t>
            </a:r>
            <a:endParaRPr lang="ru-RU" sz="2800"/>
          </a:p>
        </p:txBody>
      </p:sp>
      <p:sp>
        <p:nvSpPr>
          <p:cNvPr id="6" name="Shape 6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Зинов Илья  •  10 «Б»</a:t>
            </a:r>
            <a:endParaRPr lang="ru-RU" sz="900"/>
          </a:p>
        </p:txBody>
      </p:sp>
      <p:sp>
        <p:nvSpPr>
          <p:cNvPr id="8" name="Text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03</a:t>
            </a:r>
            <a:endParaRPr lang="ru-RU" sz="1000"/>
          </a:p>
        </p:txBody>
      </p:sp>
      <p:sp>
        <p:nvSpPr>
          <p:cNvPr id="9" name="Text 9"/>
          <p:cNvSpPr txBox="1"/>
          <p:nvPr/>
        </p:nvSpPr>
        <p:spPr>
          <a:xfrm>
            <a:off x="548640" y="155448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Промышленный музей сохраняет объект на месте и объясняет, как он работал.</a:t>
            </a:r>
            <a:endParaRPr lang="ru-RU" sz="1900"/>
          </a:p>
        </p:txBody>
      </p:sp>
      <p:sp>
        <p:nvSpPr>
          <p:cNvPr id="10" name="Shape 10"/>
          <p:cNvSpPr/>
          <p:nvPr/>
        </p:nvSpPr>
        <p:spPr>
          <a:xfrm>
            <a:off x="1143000" y="2788920"/>
            <a:ext cx="9052560" cy="36576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640080" y="2377440"/>
            <a:ext cx="822960" cy="822960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40080" y="256946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ru-RU" sz="1700"/>
          </a:p>
        </p:txBody>
      </p:sp>
      <p:sp>
        <p:nvSpPr>
          <p:cNvPr id="13" name="Text 13"/>
          <p:cNvSpPr txBox="1"/>
          <p:nvPr/>
        </p:nvSpPr>
        <p:spPr>
          <a:xfrm>
            <a:off x="530352" y="34015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ОСТАНОВКА</a:t>
            </a:r>
            <a:endParaRPr lang="ru-RU" sz="1400"/>
          </a:p>
        </p:txBody>
      </p:sp>
      <p:sp>
        <p:nvSpPr>
          <p:cNvPr id="14" name="Text 14"/>
          <p:cNvSpPr txBox="1"/>
          <p:nvPr/>
        </p:nvSpPr>
        <p:spPr>
          <a:xfrm>
            <a:off x="530352" y="385876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Производство прекращается,</a:t>
            </a:r>
            <a:endParaRPr lang="ru-RU" sz="1150"/>
          </a:p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но важные объекты сохраняют.</a:t>
            </a:r>
            <a:endParaRPr lang="ru-RU" sz="1150"/>
          </a:p>
        </p:txBody>
      </p:sp>
      <p:sp>
        <p:nvSpPr>
          <p:cNvPr id="15" name="Shape 15"/>
          <p:cNvSpPr/>
          <p:nvPr/>
        </p:nvSpPr>
        <p:spPr>
          <a:xfrm>
            <a:off x="3520440" y="2377440"/>
            <a:ext cx="822960" cy="822960"/>
          </a:xfrm>
          <a:prstGeom prst="ellipse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520440" y="256946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ru-RU" sz="1700"/>
          </a:p>
        </p:txBody>
      </p:sp>
      <p:sp>
        <p:nvSpPr>
          <p:cNvPr id="17" name="Text 17"/>
          <p:cNvSpPr txBox="1"/>
          <p:nvPr/>
        </p:nvSpPr>
        <p:spPr>
          <a:xfrm>
            <a:off x="3410712" y="34015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ИЗУЧЕНИЕ</a:t>
            </a:r>
            <a:endParaRPr lang="ru-RU" sz="1400"/>
          </a:p>
        </p:txBody>
      </p:sp>
      <p:sp>
        <p:nvSpPr>
          <p:cNvPr id="18" name="Text 18"/>
          <p:cNvSpPr txBox="1"/>
          <p:nvPr/>
        </p:nvSpPr>
        <p:spPr>
          <a:xfrm>
            <a:off x="3410712" y="385876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Специалисты фиксируют</a:t>
            </a:r>
            <a:endParaRPr lang="ru-RU" sz="1150"/>
          </a:p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историю зданий и техники.</a:t>
            </a:r>
            <a:endParaRPr lang="ru-RU" sz="1150"/>
          </a:p>
        </p:txBody>
      </p:sp>
      <p:sp>
        <p:nvSpPr>
          <p:cNvPr id="19" name="Shape 19"/>
          <p:cNvSpPr/>
          <p:nvPr/>
        </p:nvSpPr>
        <p:spPr>
          <a:xfrm>
            <a:off x="6400800" y="2377440"/>
            <a:ext cx="822960" cy="822960"/>
          </a:xfrm>
          <a:prstGeom prst="ellipse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400800" y="256946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ru-RU" sz="1700"/>
          </a:p>
        </p:txBody>
      </p:sp>
      <p:sp>
        <p:nvSpPr>
          <p:cNvPr id="21" name="Text 21"/>
          <p:cNvSpPr txBox="1"/>
          <p:nvPr/>
        </p:nvSpPr>
        <p:spPr>
          <a:xfrm>
            <a:off x="6291072" y="34015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РЕСТАВРАЦИЯ</a:t>
            </a:r>
            <a:endParaRPr lang="ru-RU" sz="1400"/>
          </a:p>
        </p:txBody>
      </p:sp>
      <p:sp>
        <p:nvSpPr>
          <p:cNvPr id="22" name="Text 22"/>
          <p:cNvSpPr txBox="1"/>
          <p:nvPr/>
        </p:nvSpPr>
        <p:spPr>
          <a:xfrm>
            <a:off x="6291072" y="385876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Конструкции укрепляют,</a:t>
            </a:r>
            <a:endParaRPr lang="ru-RU" sz="1150"/>
          </a:p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оборудование восстанавливают.</a:t>
            </a:r>
            <a:endParaRPr lang="ru-RU" sz="1150"/>
          </a:p>
        </p:txBody>
      </p:sp>
      <p:sp>
        <p:nvSpPr>
          <p:cNvPr id="23" name="Shape 23"/>
          <p:cNvSpPr/>
          <p:nvPr/>
        </p:nvSpPr>
        <p:spPr>
          <a:xfrm>
            <a:off x="9281160" y="2377440"/>
            <a:ext cx="822960" cy="822960"/>
          </a:xfrm>
          <a:prstGeom prst="ellipse">
            <a:avLst/>
          </a:prstGeom>
          <a:solidFill>
            <a:srgbClr val="789A68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281160" y="256946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ru-RU" sz="1700"/>
          </a:p>
        </p:txBody>
      </p:sp>
      <p:sp>
        <p:nvSpPr>
          <p:cNvPr id="25" name="Text 25"/>
          <p:cNvSpPr txBox="1"/>
          <p:nvPr/>
        </p:nvSpPr>
        <p:spPr>
          <a:xfrm>
            <a:off x="9171432" y="34015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НОВАЯ ЖИЗНЬ</a:t>
            </a:r>
            <a:endParaRPr lang="ru-RU" sz="1400"/>
          </a:p>
        </p:txBody>
      </p:sp>
      <p:sp>
        <p:nvSpPr>
          <p:cNvPr id="26" name="Text 26"/>
          <p:cNvSpPr txBox="1"/>
          <p:nvPr/>
        </p:nvSpPr>
        <p:spPr>
          <a:xfrm>
            <a:off x="9171432" y="385876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Открываются экскурсии,</a:t>
            </a:r>
            <a:endParaRPr lang="ru-RU" sz="1150"/>
          </a:p>
          <a:p>
            <a:pPr algn="l">
              <a:spcAft>
                <a:spcPts val="1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выставки и мастерские.</a:t>
            </a:r>
            <a:endParaRPr lang="ru-RU" sz="1150"/>
          </a:p>
        </p:txBody>
      </p:sp>
      <p:sp>
        <p:nvSpPr>
          <p:cNvPr id="27" name="Shape 27"/>
          <p:cNvSpPr/>
          <p:nvPr/>
        </p:nvSpPr>
        <p:spPr>
          <a:xfrm>
            <a:off x="640080" y="5166360"/>
            <a:ext cx="10835640" cy="77724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932688" y="5367528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6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Посетитель видит производство в реальном масштабе — там, где оно существовало.</a:t>
            </a:r>
            <a:endParaRPr lang="ru-RU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438912"/>
            <a:ext cx="100584" cy="100584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76656" y="3383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ПРИМЕР 1</a:t>
            </a:r>
            <a:endParaRPr lang="ru-RU" sz="1000"/>
          </a:p>
        </p:txBody>
      </p:sp>
      <p:sp>
        <p:nvSpPr>
          <p:cNvPr id="5" name="Text 5"/>
          <p:cNvSpPr txBox="1"/>
          <p:nvPr/>
        </p:nvSpPr>
        <p:spPr>
          <a:xfrm>
            <a:off x="502920" y="694944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Старый Демидовский завод</a:t>
            </a:r>
            <a:endParaRPr lang="ru-RU" sz="2800"/>
          </a:p>
        </p:txBody>
      </p:sp>
      <p:sp>
        <p:nvSpPr>
          <p:cNvPr id="6" name="Shape 6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Зинов Илья  •  10 «Б»</a:t>
            </a:r>
            <a:endParaRPr lang="ru-RU" sz="900"/>
          </a:p>
        </p:txBody>
      </p:sp>
      <p:sp>
        <p:nvSpPr>
          <p:cNvPr id="8" name="Text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04</a:t>
            </a:r>
            <a:endParaRPr lang="ru-RU" sz="1000"/>
          </a:p>
        </p:txBody>
      </p:sp>
      <p:sp>
        <p:nvSpPr>
          <p:cNvPr id="9" name="Text 9"/>
          <p:cNvSpPr txBox="1"/>
          <p:nvPr/>
        </p:nvSpPr>
        <p:spPr>
          <a:xfrm>
            <a:off x="548640" y="151790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НИЖНИЙ ТАГИЛ  •  СВЕРДЛОВСКАЯ ОБЛАСТЬ</a:t>
            </a:r>
            <a:endParaRPr lang="ru-RU" sz="1000"/>
          </a:p>
        </p:txBody>
      </p:sp>
      <p:sp>
        <p:nvSpPr>
          <p:cNvPr id="10" name="Text 10"/>
          <p:cNvSpPr txBox="1"/>
          <p:nvPr/>
        </p:nvSpPr>
        <p:spPr>
          <a:xfrm>
            <a:off x="548640" y="1938528"/>
            <a:ext cx="470916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800">
                <a:solidFill>
                  <a:srgbClr val="F4F0E8"/>
                </a:solidFill>
                <a:latin typeface="Arial"/>
                <a:ea typeface="Arial"/>
                <a:cs typeface="Arial"/>
              </a:rPr>
              <a:t>Один из самых известных музеев-заводов России. Он создан на территории настоящего металлургического предприятия.</a:t>
            </a:r>
            <a:endParaRPr lang="ru-RU" sz="1800"/>
          </a:p>
        </p:txBody>
      </p:sp>
      <p:sp>
        <p:nvSpPr>
          <p:cNvPr id="11" name="Shape 11"/>
          <p:cNvSpPr/>
          <p:nvPr/>
        </p:nvSpPr>
        <p:spPr>
          <a:xfrm>
            <a:off x="548640" y="3246120"/>
            <a:ext cx="4526280" cy="566928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49808" y="336499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C85C38"/>
                </a:solidFill>
                <a:latin typeface="Arial"/>
                <a:ea typeface="Arial"/>
                <a:cs typeface="Arial"/>
              </a:rPr>
              <a:t>1725</a:t>
            </a:r>
            <a:endParaRPr lang="ru-RU" sz="1300"/>
          </a:p>
        </p:txBody>
      </p:sp>
      <p:sp>
        <p:nvSpPr>
          <p:cNvPr id="13" name="Text 13"/>
          <p:cNvSpPr txBox="1"/>
          <p:nvPr/>
        </p:nvSpPr>
        <p:spPr>
          <a:xfrm>
            <a:off x="2011680" y="3364992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год основания</a:t>
            </a:r>
            <a:endParaRPr lang="ru-RU" sz="1200"/>
          </a:p>
        </p:txBody>
      </p:sp>
      <p:sp>
        <p:nvSpPr>
          <p:cNvPr id="14" name="Shape 14"/>
          <p:cNvSpPr/>
          <p:nvPr/>
        </p:nvSpPr>
        <p:spPr>
          <a:xfrm>
            <a:off x="548640" y="3977640"/>
            <a:ext cx="4526280" cy="566928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49808" y="40965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ДЕМИДОВЫ</a:t>
            </a:r>
            <a:endParaRPr lang="ru-RU" sz="1300"/>
          </a:p>
        </p:txBody>
      </p:sp>
      <p:sp>
        <p:nvSpPr>
          <p:cNvPr id="16" name="Text 16"/>
          <p:cNvSpPr txBox="1"/>
          <p:nvPr/>
        </p:nvSpPr>
        <p:spPr>
          <a:xfrm>
            <a:off x="2011680" y="4096512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династия заводчиков</a:t>
            </a:r>
            <a:endParaRPr lang="ru-RU" sz="1200"/>
          </a:p>
        </p:txBody>
      </p:sp>
      <p:sp>
        <p:nvSpPr>
          <p:cNvPr id="17" name="Shape 17"/>
          <p:cNvSpPr/>
          <p:nvPr/>
        </p:nvSpPr>
        <p:spPr>
          <a:xfrm>
            <a:off x="548640" y="4709160"/>
            <a:ext cx="4526280" cy="566928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49808" y="482803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ПОЛНЫЙ ЦИКЛ</a:t>
            </a:r>
            <a:endParaRPr lang="ru-RU" sz="1300"/>
          </a:p>
        </p:txBody>
      </p:sp>
      <p:sp>
        <p:nvSpPr>
          <p:cNvPr id="19" name="Text 19"/>
          <p:cNvSpPr txBox="1"/>
          <p:nvPr/>
        </p:nvSpPr>
        <p:spPr>
          <a:xfrm>
            <a:off x="2011680" y="4828032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история металлургии</a:t>
            </a:r>
            <a:endParaRPr lang="ru-RU" sz="1200"/>
          </a:p>
        </p:txBody>
      </p:sp>
      <p:sp>
        <p:nvSpPr>
          <p:cNvPr id="20" name="Shape 20"/>
          <p:cNvSpPr/>
          <p:nvPr/>
        </p:nvSpPr>
        <p:spPr>
          <a:xfrm>
            <a:off x="5532120" y="1554480"/>
            <a:ext cx="6144768" cy="4526280"/>
          </a:xfrm>
          <a:prstGeom prst="round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5897880" y="5559552"/>
            <a:ext cx="5349240" cy="41148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6053328" y="4325112"/>
            <a:ext cx="1371600" cy="1225296"/>
          </a:xfrm>
          <a:prstGeom prst="rect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6327648" y="2843784"/>
            <a:ext cx="329184" cy="1481328"/>
          </a:xfrm>
          <a:prstGeom prst="rect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7699248" y="3794760"/>
            <a:ext cx="1353312" cy="1755648"/>
          </a:xfrm>
          <a:prstGeom prst="rect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8010144" y="2377440"/>
            <a:ext cx="329184" cy="1417320"/>
          </a:xfrm>
          <a:prstGeom prst="rect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9308592" y="4279392"/>
            <a:ext cx="1783080" cy="1271016"/>
          </a:xfrm>
          <a:prstGeom prst="rect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9656064" y="3246120"/>
            <a:ext cx="310896" cy="1033272"/>
          </a:xfrm>
          <a:prstGeom prst="rect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 rot="-360000">
            <a:off x="6144768" y="4242816"/>
            <a:ext cx="4864608" cy="36576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 rot="420000">
            <a:off x="6601968" y="3493008"/>
            <a:ext cx="4251960" cy="36576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6236208" y="4782312"/>
            <a:ext cx="228600" cy="228600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6986016" y="4782312"/>
            <a:ext cx="228600" cy="228600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7735824" y="4782312"/>
            <a:ext cx="228600" cy="228600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8485632" y="4782312"/>
            <a:ext cx="228600" cy="228600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9235440" y="4782312"/>
            <a:ext cx="228600" cy="228600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9985248" y="4782312"/>
            <a:ext cx="228600" cy="228600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5925312" y="1810512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МУЗЕЙ В МАСШТАБЕ ЗАВОДА</a:t>
            </a:r>
            <a:endParaRPr lang="ru-RU" sz="1600"/>
          </a:p>
        </p:txBody>
      </p:sp>
      <p:sp>
        <p:nvSpPr>
          <p:cNvPr id="37" name="Text 37"/>
          <p:cNvSpPr txBox="1"/>
          <p:nvPr/>
        </p:nvSpPr>
        <p:spPr>
          <a:xfrm>
            <a:off x="5925312" y="2212848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>
                <a:solidFill>
                  <a:srgbClr val="AEB6BC"/>
                </a:solidFill>
                <a:latin typeface="Arial"/>
                <a:ea typeface="Arial"/>
                <a:cs typeface="Arial"/>
              </a:rPr>
              <a:t>цеха • доменные печи • коммуникации</a:t>
            </a:r>
            <a:endParaRPr lang="ru-RU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438912"/>
            <a:ext cx="100584" cy="100584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76656" y="3383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ПРИМЕР 2</a:t>
            </a:r>
            <a:endParaRPr lang="ru-RU" sz="1000"/>
          </a:p>
        </p:txBody>
      </p:sp>
      <p:sp>
        <p:nvSpPr>
          <p:cNvPr id="5" name="Text 5"/>
          <p:cNvSpPr txBox="1"/>
          <p:nvPr/>
        </p:nvSpPr>
        <p:spPr>
          <a:xfrm>
            <a:off x="502920" y="694944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Музейный комплекс «Северская домна»</a:t>
            </a:r>
            <a:endParaRPr lang="ru-RU" sz="2800"/>
          </a:p>
        </p:txBody>
      </p:sp>
      <p:sp>
        <p:nvSpPr>
          <p:cNvPr id="6" name="Shape 6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Зинов Илья  •  10 «Б»</a:t>
            </a:r>
            <a:endParaRPr lang="ru-RU" sz="900"/>
          </a:p>
        </p:txBody>
      </p:sp>
      <p:sp>
        <p:nvSpPr>
          <p:cNvPr id="8" name="Text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05</a:t>
            </a:r>
            <a:endParaRPr lang="ru-RU" sz="1000"/>
          </a:p>
        </p:txBody>
      </p:sp>
      <p:sp>
        <p:nvSpPr>
          <p:cNvPr id="9" name="Text 9"/>
          <p:cNvSpPr txBox="1"/>
          <p:nvPr/>
        </p:nvSpPr>
        <p:spPr>
          <a:xfrm>
            <a:off x="548640" y="151790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ПОЛЕВСКОЙ  •  СВЕРДЛОВСКАЯ ОБЛАСТЬ</a:t>
            </a:r>
            <a:endParaRPr lang="ru-RU" sz="1000"/>
          </a:p>
        </p:txBody>
      </p:sp>
      <p:sp>
        <p:nvSpPr>
          <p:cNvPr id="10" name="Shape 10"/>
          <p:cNvSpPr/>
          <p:nvPr/>
        </p:nvSpPr>
        <p:spPr>
          <a:xfrm>
            <a:off x="548640" y="1938528"/>
            <a:ext cx="4864608" cy="4041648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22960" y="224028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2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Главный экспонат — подлинная доменная печь XIX века.</a:t>
            </a:r>
            <a:endParaRPr lang="ru-RU" sz="2200"/>
          </a:p>
        </p:txBody>
      </p:sp>
      <p:sp>
        <p:nvSpPr>
          <p:cNvPr id="12" name="Shape 12"/>
          <p:cNvSpPr/>
          <p:nvPr/>
        </p:nvSpPr>
        <p:spPr>
          <a:xfrm>
            <a:off x="822960" y="2971800"/>
            <a:ext cx="1051560" cy="50292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22960" y="3273552"/>
            <a:ext cx="4251960" cy="1325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200"/>
              </a:spcAft>
            </a:pPr>
            <a:r>
              <a:rPr lang="ru-RU" sz="3000" b="1">
                <a:solidFill>
                  <a:srgbClr val="C85C38"/>
                </a:solidFill>
                <a:latin typeface="Arial"/>
                <a:ea typeface="Arial"/>
                <a:cs typeface="Arial"/>
              </a:rPr>
              <a:t>1860</a:t>
            </a:r>
            <a:endParaRPr lang="ru-RU" sz="3000"/>
          </a:p>
          <a:p>
            <a:pPr algn="l">
              <a:spcAft>
                <a:spcPts val="12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год постройки доменного цеха</a:t>
            </a:r>
            <a:endParaRPr lang="ru-RU" sz="1300"/>
          </a:p>
          <a:p>
            <a:pPr algn="l">
              <a:spcAft>
                <a:spcPts val="200"/>
              </a:spcAft>
            </a:pPr>
            <a:r>
              <a:rPr lang="ru-RU" sz="3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2009</a:t>
            </a:r>
            <a:endParaRPr lang="ru-RU" sz="3000"/>
          </a:p>
          <a:p>
            <a:pPr algn="l">
              <a:spcAft>
                <a:spcPts val="4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год открытия музейного комплекса</a:t>
            </a:r>
            <a:endParaRPr lang="ru-RU" sz="1300"/>
          </a:p>
        </p:txBody>
      </p:sp>
      <p:sp>
        <p:nvSpPr>
          <p:cNvPr id="14" name="Shape 14"/>
          <p:cNvSpPr/>
          <p:nvPr/>
        </p:nvSpPr>
        <p:spPr>
          <a:xfrm>
            <a:off x="5715000" y="1938528"/>
            <a:ext cx="5961888" cy="4041648"/>
          </a:xfrm>
          <a:prstGeom prst="round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7571232" y="2404872"/>
            <a:ext cx="2057400" cy="2944368"/>
          </a:xfrm>
          <a:prstGeom prst="hexagon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7845552" y="2103120"/>
            <a:ext cx="1508760" cy="685800"/>
          </a:xfrm>
          <a:prstGeom prst="trapezoid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8101584" y="5138928"/>
            <a:ext cx="960120" cy="502920"/>
          </a:xfrm>
          <a:prstGeom prst="trapezoid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6419088" y="3108960"/>
            <a:ext cx="1325880" cy="36576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9464040" y="3108960"/>
            <a:ext cx="1417320" cy="36576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6858000" y="3794760"/>
            <a:ext cx="36576" cy="1417320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10351008" y="3794760"/>
            <a:ext cx="36576" cy="1417320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6217920" y="4892040"/>
            <a:ext cx="658368" cy="658368"/>
          </a:xfrm>
          <a:prstGeom prst="ellipse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0058400" y="4892040"/>
            <a:ext cx="658368" cy="658368"/>
          </a:xfrm>
          <a:prstGeom prst="ellipse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126480" y="230428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ВОЗДУХ</a:t>
            </a:r>
            <a:endParaRPr lang="ru-RU" sz="1100"/>
          </a:p>
        </p:txBody>
      </p:sp>
      <p:sp>
        <p:nvSpPr>
          <p:cNvPr id="25" name="Text 25"/>
          <p:cNvSpPr txBox="1"/>
          <p:nvPr/>
        </p:nvSpPr>
        <p:spPr>
          <a:xfrm>
            <a:off x="9619488" y="230428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1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ШИХТА</a:t>
            </a:r>
            <a:endParaRPr lang="ru-RU" sz="1100"/>
          </a:p>
        </p:txBody>
      </p:sp>
      <p:sp>
        <p:nvSpPr>
          <p:cNvPr id="26" name="Text 26"/>
          <p:cNvSpPr txBox="1"/>
          <p:nvPr/>
        </p:nvSpPr>
        <p:spPr>
          <a:xfrm>
            <a:off x="6199632" y="5559552"/>
            <a:ext cx="501091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100">
                <a:solidFill>
                  <a:srgbClr val="AEB6BC"/>
                </a:solidFill>
                <a:latin typeface="Arial"/>
                <a:ea typeface="Arial"/>
                <a:cs typeface="Arial"/>
              </a:rPr>
              <a:t>Схема доменной печи — символ музея</a:t>
            </a:r>
            <a:endParaRPr lang="ru-RU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438912"/>
            <a:ext cx="100584" cy="100584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76656" y="3383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ПРИМЕР 3</a:t>
            </a:r>
            <a:endParaRPr lang="ru-RU" sz="1000"/>
          </a:p>
        </p:txBody>
      </p:sp>
      <p:sp>
        <p:nvSpPr>
          <p:cNvPr id="5" name="Text 5"/>
          <p:cNvSpPr txBox="1"/>
          <p:nvPr/>
        </p:nvSpPr>
        <p:spPr>
          <a:xfrm>
            <a:off x="502920" y="694944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Музей истории Мотовилихинских заводов</a:t>
            </a:r>
            <a:endParaRPr lang="ru-RU" sz="2800"/>
          </a:p>
        </p:txBody>
      </p:sp>
      <p:sp>
        <p:nvSpPr>
          <p:cNvPr id="6" name="Shape 6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Зинов Илья  •  10 «Б»</a:t>
            </a:r>
            <a:endParaRPr lang="ru-RU" sz="900"/>
          </a:p>
        </p:txBody>
      </p:sp>
      <p:sp>
        <p:nvSpPr>
          <p:cNvPr id="8" name="Text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06</a:t>
            </a:r>
            <a:endParaRPr lang="ru-RU" sz="1000"/>
          </a:p>
        </p:txBody>
      </p:sp>
      <p:sp>
        <p:nvSpPr>
          <p:cNvPr id="9" name="Text 9"/>
          <p:cNvSpPr txBox="1"/>
          <p:nvPr/>
        </p:nvSpPr>
        <p:spPr>
          <a:xfrm>
            <a:off x="548640" y="151790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ПЕРМЬ  •  ПЕРМСКИЙ КРАЙ</a:t>
            </a:r>
            <a:endParaRPr lang="ru-RU" sz="1000"/>
          </a:p>
        </p:txBody>
      </p:sp>
      <p:sp>
        <p:nvSpPr>
          <p:cNvPr id="10" name="Text 10"/>
          <p:cNvSpPr txBox="1"/>
          <p:nvPr/>
        </p:nvSpPr>
        <p:spPr>
          <a:xfrm>
            <a:off x="548640" y="1920240"/>
            <a:ext cx="4572000" cy="11704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000">
                <a:solidFill>
                  <a:srgbClr val="F4F0E8"/>
                </a:solidFill>
                <a:latin typeface="Arial"/>
                <a:ea typeface="Arial"/>
                <a:cs typeface="Arial"/>
              </a:rPr>
              <a:t>Музей показывает почти трёхвековую историю предприятия и развитие промышленности Перми.</a:t>
            </a:r>
            <a:endParaRPr lang="ru-RU" sz="2000"/>
          </a:p>
        </p:txBody>
      </p:sp>
      <p:sp>
        <p:nvSpPr>
          <p:cNvPr id="11" name="Shape 11"/>
          <p:cNvSpPr/>
          <p:nvPr/>
        </p:nvSpPr>
        <p:spPr>
          <a:xfrm>
            <a:off x="548640" y="3383280"/>
            <a:ext cx="4681728" cy="82296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86384" y="358444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700" b="1">
                <a:solidFill>
                  <a:srgbClr val="C85C38"/>
                </a:solidFill>
                <a:latin typeface="Arial"/>
                <a:ea typeface="Arial"/>
                <a:cs typeface="Arial"/>
              </a:rPr>
              <a:t>1976</a:t>
            </a:r>
            <a:endParaRPr lang="ru-RU" sz="1700"/>
          </a:p>
        </p:txBody>
      </p:sp>
      <p:sp>
        <p:nvSpPr>
          <p:cNvPr id="13" name="Text 13"/>
          <p:cNvSpPr txBox="1"/>
          <p:nvPr/>
        </p:nvSpPr>
        <p:spPr>
          <a:xfrm>
            <a:off x="1645920" y="3593592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300">
                <a:solidFill>
                  <a:srgbClr val="AEB6BC"/>
                </a:solidFill>
                <a:latin typeface="Arial"/>
                <a:ea typeface="Arial"/>
                <a:cs typeface="Arial"/>
              </a:rPr>
              <a:t>год открытия музея</a:t>
            </a:r>
            <a:endParaRPr lang="ru-RU" sz="1300"/>
          </a:p>
        </p:txBody>
      </p:sp>
      <p:sp>
        <p:nvSpPr>
          <p:cNvPr id="14" name="Shape 14"/>
          <p:cNvSpPr/>
          <p:nvPr/>
        </p:nvSpPr>
        <p:spPr>
          <a:xfrm>
            <a:off x="548640" y="4407408"/>
            <a:ext cx="4681728" cy="123444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86384" y="4608576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3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ДВЕ ЧАСТИ ЭКСПОЗИЦИИ</a:t>
            </a:r>
            <a:endParaRPr lang="ru-RU" sz="1300"/>
          </a:p>
        </p:txBody>
      </p:sp>
      <p:sp>
        <p:nvSpPr>
          <p:cNvPr id="16" name="Text 16"/>
          <p:cNvSpPr txBox="1"/>
          <p:nvPr/>
        </p:nvSpPr>
        <p:spPr>
          <a:xfrm>
            <a:off x="786384" y="49834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3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• историческая экспозиция в здании XIX века</a:t>
            </a:r>
            <a:endParaRPr lang="ru-RU" sz="1150"/>
          </a:p>
          <a:p>
            <a:pPr algn="l">
              <a:spcAft>
                <a:spcPts val="400"/>
              </a:spcAft>
            </a:pPr>
            <a:r>
              <a:rPr lang="ru-RU" sz="1150">
                <a:solidFill>
                  <a:srgbClr val="AEB6BC"/>
                </a:solidFill>
                <a:latin typeface="Arial"/>
                <a:ea typeface="Arial"/>
                <a:cs typeface="Arial"/>
              </a:rPr>
              <a:t>• артиллерийская техника под открытым небом</a:t>
            </a:r>
            <a:endParaRPr lang="ru-RU" sz="1150"/>
          </a:p>
        </p:txBody>
      </p:sp>
      <p:sp>
        <p:nvSpPr>
          <p:cNvPr id="17" name="Shape 17"/>
          <p:cNvSpPr/>
          <p:nvPr/>
        </p:nvSpPr>
        <p:spPr>
          <a:xfrm>
            <a:off x="5669280" y="1874520"/>
            <a:ext cx="6007608" cy="4187952"/>
          </a:xfrm>
          <a:prstGeom prst="roundRect">
            <a:avLst/>
          </a:prstGeom>
          <a:solidFill>
            <a:srgbClr val="2C3238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6144768" y="5102352"/>
            <a:ext cx="4800600" cy="41148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6510528" y="4041648"/>
            <a:ext cx="731520" cy="731520"/>
          </a:xfrm>
          <a:prstGeom prst="ellipse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9646920" y="4041648"/>
            <a:ext cx="731520" cy="731520"/>
          </a:xfrm>
          <a:prstGeom prst="ellipse">
            <a:avLst/>
          </a:prstGeom>
          <a:solidFill>
            <a:srgbClr val="101214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6720840" y="3840480"/>
            <a:ext cx="3218688" cy="566928"/>
          </a:xfrm>
          <a:prstGeom prst="roundRect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7635240" y="3182112"/>
            <a:ext cx="1508760" cy="749808"/>
          </a:xfrm>
          <a:prstGeom prst="roundRect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 rot="-600000">
            <a:off x="8823960" y="3310128"/>
            <a:ext cx="2514600" cy="118872"/>
          </a:xfrm>
          <a:prstGeom prst="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 rot="-600000">
            <a:off x="10899648" y="2971800"/>
            <a:ext cx="384048" cy="237744"/>
          </a:xfrm>
          <a:prstGeom prst="roundRect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236208" y="217627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ОТ МЕДЕПЛАВИЛЬНОГО ЗАВОДА</a:t>
            </a:r>
            <a:endParaRPr lang="ru-RU" sz="1500"/>
          </a:p>
        </p:txBody>
      </p:sp>
      <p:sp>
        <p:nvSpPr>
          <p:cNvPr id="26" name="Text 26"/>
          <p:cNvSpPr txBox="1"/>
          <p:nvPr/>
        </p:nvSpPr>
        <p:spPr>
          <a:xfrm>
            <a:off x="6236208" y="2578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>
                <a:solidFill>
                  <a:srgbClr val="AEB6BC"/>
                </a:solidFill>
                <a:latin typeface="Arial"/>
                <a:ea typeface="Arial"/>
                <a:cs typeface="Arial"/>
              </a:rPr>
              <a:t>к крупному машиностроительному предприятию</a:t>
            </a:r>
            <a:endParaRPr lang="ru-RU" sz="1100"/>
          </a:p>
        </p:txBody>
      </p:sp>
      <p:sp>
        <p:nvSpPr>
          <p:cNvPr id="27" name="Text 27"/>
          <p:cNvSpPr txBox="1"/>
          <p:nvPr/>
        </p:nvSpPr>
        <p:spPr>
          <a:xfrm>
            <a:off x="6492240" y="5340096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100">
                <a:solidFill>
                  <a:srgbClr val="AEB6BC"/>
                </a:solidFill>
                <a:latin typeface="Arial"/>
                <a:ea typeface="Arial"/>
                <a:cs typeface="Arial"/>
              </a:rPr>
              <a:t>Открытая площадка: техника разных эпох</a:t>
            </a:r>
            <a:endParaRPr lang="ru-RU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02920" y="438912"/>
            <a:ext cx="100584" cy="100584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76656" y="3383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ЗНАЧЕНИЕ</a:t>
            </a:r>
            <a:endParaRPr lang="ru-RU" sz="1000"/>
          </a:p>
        </p:txBody>
      </p:sp>
      <p:sp>
        <p:nvSpPr>
          <p:cNvPr id="5" name="Text 5"/>
          <p:cNvSpPr txBox="1"/>
          <p:nvPr/>
        </p:nvSpPr>
        <p:spPr>
          <a:xfrm>
            <a:off x="502920" y="694944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Зачем сохранять старые заводы?</a:t>
            </a:r>
            <a:endParaRPr lang="ru-RU" sz="2800"/>
          </a:p>
        </p:txBody>
      </p:sp>
      <p:sp>
        <p:nvSpPr>
          <p:cNvPr id="6" name="Shape 6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900">
                <a:solidFill>
                  <a:srgbClr val="AEB6BC"/>
                </a:solidFill>
                <a:latin typeface="Arial"/>
                <a:ea typeface="Arial"/>
                <a:cs typeface="Arial"/>
              </a:rPr>
              <a:t>Зинов Илья  •  10 «Б»</a:t>
            </a:r>
            <a:endParaRPr lang="ru-RU" sz="900"/>
          </a:p>
        </p:txBody>
      </p:sp>
      <p:sp>
        <p:nvSpPr>
          <p:cNvPr id="8" name="Text 8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07</a:t>
            </a:r>
            <a:endParaRPr lang="ru-RU" sz="1000"/>
          </a:p>
        </p:txBody>
      </p:sp>
      <p:sp>
        <p:nvSpPr>
          <p:cNvPr id="9" name="Shape 9"/>
          <p:cNvSpPr/>
          <p:nvPr/>
        </p:nvSpPr>
        <p:spPr>
          <a:xfrm>
            <a:off x="548640" y="1719072"/>
            <a:ext cx="5212080" cy="171907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04672" y="2029968"/>
            <a:ext cx="658368" cy="658368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04672" y="219456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ru-RU" sz="1100"/>
          </a:p>
        </p:txBody>
      </p:sp>
      <p:sp>
        <p:nvSpPr>
          <p:cNvPr id="12" name="Text 12"/>
          <p:cNvSpPr txBox="1"/>
          <p:nvPr/>
        </p:nvSpPr>
        <p:spPr>
          <a:xfrm>
            <a:off x="1691640" y="202996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ПАМЯТЬ</a:t>
            </a:r>
            <a:endParaRPr lang="ru-RU" sz="1500"/>
          </a:p>
        </p:txBody>
      </p:sp>
      <p:sp>
        <p:nvSpPr>
          <p:cNvPr id="13" name="Text 13"/>
          <p:cNvSpPr txBox="1"/>
          <p:nvPr/>
        </p:nvSpPr>
        <p:spPr>
          <a:xfrm>
            <a:off x="1691640" y="2478024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Истории инженеров,</a:t>
            </a:r>
            <a:endParaRPr lang="ru-RU" sz="1200"/>
          </a:p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мастеров и рабочих</a:t>
            </a:r>
            <a:endParaRPr lang="ru-RU" sz="1200"/>
          </a:p>
        </p:txBody>
      </p:sp>
      <p:sp>
        <p:nvSpPr>
          <p:cNvPr id="14" name="Shape 14"/>
          <p:cNvSpPr/>
          <p:nvPr/>
        </p:nvSpPr>
        <p:spPr>
          <a:xfrm>
            <a:off x="6144768" y="1719072"/>
            <a:ext cx="5212080" cy="171907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400800" y="2029968"/>
            <a:ext cx="658368" cy="658368"/>
          </a:xfrm>
          <a:prstGeom prst="ellipse">
            <a:avLst/>
          </a:prstGeom>
          <a:solidFill>
            <a:srgbClr val="E6A84A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400800" y="219456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ru-RU" sz="1100"/>
          </a:p>
        </p:txBody>
      </p:sp>
      <p:sp>
        <p:nvSpPr>
          <p:cNvPr id="17" name="Text 17"/>
          <p:cNvSpPr txBox="1"/>
          <p:nvPr/>
        </p:nvSpPr>
        <p:spPr>
          <a:xfrm>
            <a:off x="7287768" y="202996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ЗНАНИЯ</a:t>
            </a:r>
            <a:endParaRPr lang="ru-RU" sz="1500"/>
          </a:p>
        </p:txBody>
      </p:sp>
      <p:sp>
        <p:nvSpPr>
          <p:cNvPr id="18" name="Text 18"/>
          <p:cNvSpPr txBox="1"/>
          <p:nvPr/>
        </p:nvSpPr>
        <p:spPr>
          <a:xfrm>
            <a:off x="7287768" y="2478024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Развитие техники</a:t>
            </a:r>
            <a:endParaRPr lang="ru-RU" sz="1200"/>
          </a:p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и производственных процессов</a:t>
            </a:r>
            <a:endParaRPr lang="ru-RU" sz="1200"/>
          </a:p>
        </p:txBody>
      </p:sp>
      <p:sp>
        <p:nvSpPr>
          <p:cNvPr id="19" name="Shape 19"/>
          <p:cNvSpPr/>
          <p:nvPr/>
        </p:nvSpPr>
        <p:spPr>
          <a:xfrm>
            <a:off x="548640" y="3867912"/>
            <a:ext cx="5212080" cy="171907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04672" y="4178808"/>
            <a:ext cx="658368" cy="658368"/>
          </a:xfrm>
          <a:prstGeom prst="ellipse">
            <a:avLst/>
          </a:prstGeom>
          <a:solidFill>
            <a:srgbClr val="4B8A8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04672" y="434340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ru-RU" sz="1100"/>
          </a:p>
        </p:txBody>
      </p:sp>
      <p:sp>
        <p:nvSpPr>
          <p:cNvPr id="22" name="Text 22"/>
          <p:cNvSpPr txBox="1"/>
          <p:nvPr/>
        </p:nvSpPr>
        <p:spPr>
          <a:xfrm>
            <a:off x="1691640" y="417880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АРХИТЕКТУРА</a:t>
            </a:r>
            <a:endParaRPr lang="ru-RU" sz="1500"/>
          </a:p>
        </p:txBody>
      </p:sp>
      <p:sp>
        <p:nvSpPr>
          <p:cNvPr id="23" name="Text 23"/>
          <p:cNvSpPr txBox="1"/>
          <p:nvPr/>
        </p:nvSpPr>
        <p:spPr>
          <a:xfrm>
            <a:off x="1691640" y="4626864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Редкие цеха, домны</a:t>
            </a:r>
            <a:endParaRPr lang="ru-RU" sz="1200"/>
          </a:p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и промышленные сооружения</a:t>
            </a:r>
            <a:endParaRPr lang="ru-RU" sz="1200"/>
          </a:p>
        </p:txBody>
      </p:sp>
      <p:sp>
        <p:nvSpPr>
          <p:cNvPr id="24" name="Shape 24"/>
          <p:cNvSpPr/>
          <p:nvPr/>
        </p:nvSpPr>
        <p:spPr>
          <a:xfrm>
            <a:off x="6144768" y="3867912"/>
            <a:ext cx="5212080" cy="171907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400800" y="4178808"/>
            <a:ext cx="658368" cy="658368"/>
          </a:xfrm>
          <a:prstGeom prst="ellipse">
            <a:avLst/>
          </a:prstGeom>
          <a:solidFill>
            <a:srgbClr val="789A68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6400800" y="434340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lang="ru-RU" sz="1100"/>
          </a:p>
        </p:txBody>
      </p:sp>
      <p:sp>
        <p:nvSpPr>
          <p:cNvPr id="27" name="Text 27"/>
          <p:cNvSpPr txBox="1"/>
          <p:nvPr/>
        </p:nvSpPr>
        <p:spPr>
          <a:xfrm>
            <a:off x="7287768" y="417880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НОВАЯ ЖИЗНЬ</a:t>
            </a:r>
            <a:endParaRPr lang="ru-RU" sz="1500"/>
          </a:p>
        </p:txBody>
      </p:sp>
      <p:sp>
        <p:nvSpPr>
          <p:cNvPr id="28" name="Text 28"/>
          <p:cNvSpPr txBox="1"/>
          <p:nvPr/>
        </p:nvSpPr>
        <p:spPr>
          <a:xfrm>
            <a:off x="7287768" y="4626864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Экскурсии, выставки</a:t>
            </a:r>
            <a:endParaRPr lang="ru-RU" sz="1200"/>
          </a:p>
          <a:p>
            <a:pPr algn="l">
              <a:spcAft>
                <a:spcPts val="100"/>
              </a:spcAft>
            </a:pPr>
            <a:r>
              <a:rPr lang="ru-RU" sz="1200">
                <a:solidFill>
                  <a:srgbClr val="AEB6BC"/>
                </a:solidFill>
                <a:latin typeface="Arial"/>
                <a:ea typeface="Arial"/>
                <a:cs typeface="Arial"/>
              </a:rPr>
              <a:t>и культурные пространства</a:t>
            </a:r>
            <a:endParaRPr lang="ru-RU" sz="1200"/>
          </a:p>
        </p:txBody>
      </p:sp>
      <p:sp>
        <p:nvSpPr>
          <p:cNvPr id="29" name="Text 29"/>
          <p:cNvSpPr txBox="1"/>
          <p:nvPr/>
        </p:nvSpPr>
        <p:spPr>
          <a:xfrm>
            <a:off x="548640" y="5870448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16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Сохраняя завод, музей сохраняет не только металл и кирпич, но и опыт многих поколений.</a:t>
            </a:r>
            <a:endParaRPr lang="ru-RU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8368" y="566928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ВЫВОД</a:t>
            </a:r>
            <a:endParaRPr lang="ru-RU" sz="1100"/>
          </a:p>
        </p:txBody>
      </p:sp>
      <p:sp>
        <p:nvSpPr>
          <p:cNvPr id="5" name="Text 5"/>
          <p:cNvSpPr txBox="1"/>
          <p:nvPr/>
        </p:nvSpPr>
        <p:spPr>
          <a:xfrm>
            <a:off x="658368" y="987552"/>
            <a:ext cx="10469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35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Промышленность —
часть культуры России</a:t>
            </a:r>
            <a:endParaRPr lang="ru-RU" sz="3500"/>
          </a:p>
        </p:txBody>
      </p:sp>
      <p:sp>
        <p:nvSpPr>
          <p:cNvPr id="6" name="Text 6"/>
          <p:cNvSpPr txBox="1"/>
          <p:nvPr/>
        </p:nvSpPr>
        <p:spPr>
          <a:xfrm>
            <a:off x="685800" y="2487168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2000">
                <a:solidFill>
                  <a:srgbClr val="AEB6BC"/>
                </a:solidFill>
                <a:latin typeface="Arial"/>
                <a:ea typeface="Arial"/>
                <a:cs typeface="Arial"/>
              </a:rPr>
              <a:t>Музеи-заводы показывают историю страны через технологии, пространство и человеческий труд.</a:t>
            </a:r>
            <a:endParaRPr lang="ru-RU" sz="2000"/>
          </a:p>
        </p:txBody>
      </p:sp>
      <p:sp>
        <p:nvSpPr>
          <p:cNvPr id="7" name="Shape 7"/>
          <p:cNvSpPr/>
          <p:nvPr/>
        </p:nvSpPr>
        <p:spPr>
          <a:xfrm>
            <a:off x="6812280" y="822960"/>
            <a:ext cx="4800600" cy="2788920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454D54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114032" y="1115568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ТРИ ПРИМЕРА</a:t>
            </a:r>
            <a:endParaRPr lang="ru-RU" sz="1200"/>
          </a:p>
        </p:txBody>
      </p:sp>
      <p:sp>
        <p:nvSpPr>
          <p:cNvPr id="9" name="Shape 9"/>
          <p:cNvSpPr/>
          <p:nvPr/>
        </p:nvSpPr>
        <p:spPr>
          <a:xfrm>
            <a:off x="7114032" y="1664208"/>
            <a:ext cx="438912" cy="438912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114032" y="177393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ru-RU" sz="800"/>
          </a:p>
        </p:txBody>
      </p:sp>
      <p:sp>
        <p:nvSpPr>
          <p:cNvPr id="11" name="Text 11"/>
          <p:cNvSpPr txBox="1"/>
          <p:nvPr/>
        </p:nvSpPr>
        <p:spPr>
          <a:xfrm>
            <a:off x="7754112" y="1737360"/>
            <a:ext cx="3401568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5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Старый Демидовский завод</a:t>
            </a:r>
            <a:endParaRPr lang="ru-RU" sz="1250"/>
          </a:p>
        </p:txBody>
      </p:sp>
      <p:sp>
        <p:nvSpPr>
          <p:cNvPr id="12" name="Shape 12"/>
          <p:cNvSpPr/>
          <p:nvPr/>
        </p:nvSpPr>
        <p:spPr>
          <a:xfrm>
            <a:off x="7114032" y="2267712"/>
            <a:ext cx="438912" cy="438912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114032" y="2377440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ru-RU" sz="800"/>
          </a:p>
        </p:txBody>
      </p:sp>
      <p:sp>
        <p:nvSpPr>
          <p:cNvPr id="14" name="Text 14"/>
          <p:cNvSpPr txBox="1"/>
          <p:nvPr/>
        </p:nvSpPr>
        <p:spPr>
          <a:xfrm>
            <a:off x="7754112" y="2340864"/>
            <a:ext cx="3401568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5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Северская домна</a:t>
            </a:r>
            <a:endParaRPr lang="ru-RU" sz="1250"/>
          </a:p>
        </p:txBody>
      </p:sp>
      <p:sp>
        <p:nvSpPr>
          <p:cNvPr id="15" name="Shape 15"/>
          <p:cNvSpPr/>
          <p:nvPr/>
        </p:nvSpPr>
        <p:spPr>
          <a:xfrm>
            <a:off x="7114032" y="2871216"/>
            <a:ext cx="438912" cy="438912"/>
          </a:xfrm>
          <a:prstGeom prst="ellipse">
            <a:avLst/>
          </a:prstGeom>
          <a:solidFill>
            <a:srgbClr val="C85C38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114032" y="298094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ctr">
              <a:spcAft>
                <a:spcPts val="400"/>
              </a:spcAft>
            </a:pPr>
            <a:r>
              <a:rPr lang="ru-RU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ru-RU" sz="800"/>
          </a:p>
        </p:txBody>
      </p:sp>
      <p:sp>
        <p:nvSpPr>
          <p:cNvPr id="17" name="Text 17"/>
          <p:cNvSpPr txBox="1"/>
          <p:nvPr/>
        </p:nvSpPr>
        <p:spPr>
          <a:xfrm>
            <a:off x="7754112" y="2944368"/>
            <a:ext cx="3401568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25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Мотовилихинские заводы</a:t>
            </a:r>
            <a:endParaRPr lang="ru-RU" sz="1250"/>
          </a:p>
        </p:txBody>
      </p:sp>
      <p:sp>
        <p:nvSpPr>
          <p:cNvPr id="18" name="Shape 18"/>
          <p:cNvSpPr/>
          <p:nvPr/>
        </p:nvSpPr>
        <p:spPr>
          <a:xfrm>
            <a:off x="658368" y="3977640"/>
            <a:ext cx="10927080" cy="16459"/>
          </a:xfrm>
          <a:prstGeom prst="rect">
            <a:avLst/>
          </a:prstGeom>
          <a:solidFill>
            <a:srgbClr val="454D54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58368" y="4279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1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ИСТОЧНИКИ</a:t>
            </a:r>
            <a:endParaRPr lang="ru-RU" sz="1100"/>
          </a:p>
        </p:txBody>
      </p:sp>
      <p:sp>
        <p:nvSpPr>
          <p:cNvPr id="20" name="Text 20"/>
          <p:cNvSpPr txBox="1"/>
          <p:nvPr/>
        </p:nvSpPr>
        <p:spPr>
          <a:xfrm>
            <a:off x="658368" y="4681728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500"/>
              </a:spcAft>
            </a:pPr>
            <a:r>
              <a:rPr lang="ru-RU" sz="1050">
                <a:solidFill>
                  <a:srgbClr val="AEB6BC"/>
                </a:solidFill>
                <a:latin typeface="Arial"/>
                <a:ea typeface="Arial"/>
                <a:cs typeface="Arial"/>
              </a:rPr>
              <a:t>culture.ru/institutes/12303 — Старый Демидовский завод</a:t>
            </a:r>
            <a:endParaRPr lang="ru-RU" sz="1050"/>
          </a:p>
          <a:p>
            <a:pPr algn="l">
              <a:spcAft>
                <a:spcPts val="500"/>
              </a:spcAft>
            </a:pPr>
            <a:r>
              <a:rPr lang="ru-RU" sz="1050">
                <a:solidFill>
                  <a:srgbClr val="AEB6BC"/>
                </a:solidFill>
                <a:latin typeface="Arial"/>
                <a:ea typeface="Arial"/>
                <a:cs typeface="Arial"/>
              </a:rPr>
              <a:t>stz.tmk-group.ru/severskaya_domna — музейный комплекс «Северская домна»</a:t>
            </a:r>
            <a:endParaRPr lang="ru-RU" sz="1050"/>
          </a:p>
          <a:p>
            <a:pPr algn="l">
              <a:spcAft>
                <a:spcPts val="500"/>
              </a:spcAft>
            </a:pPr>
            <a:r>
              <a:rPr lang="ru-RU" sz="1050">
                <a:solidFill>
                  <a:srgbClr val="AEB6BC"/>
                </a:solidFill>
                <a:latin typeface="Arial"/>
                <a:ea typeface="Arial"/>
                <a:cs typeface="Arial"/>
              </a:rPr>
              <a:t>culture.ru/institutes/11739 — музей истории Мотовилихинских заводов</a:t>
            </a:r>
            <a:endParaRPr lang="ru-RU" sz="1050"/>
          </a:p>
          <a:p>
            <a:pPr algn="l">
              <a:spcAft>
                <a:spcPts val="400"/>
              </a:spcAft>
            </a:pPr>
            <a:r>
              <a:rPr lang="ru-RU" sz="1050">
                <a:solidFill>
                  <a:srgbClr val="AEB6BC"/>
                </a:solidFill>
                <a:latin typeface="Arial"/>
                <a:ea typeface="Arial"/>
                <a:cs typeface="Arial"/>
              </a:rPr>
              <a:t>museum-nt.ru — Нижнетагильский музей-заповедник «Горнозаводской Урал»</a:t>
            </a:r>
            <a:endParaRPr lang="ru-RU" sz="1050"/>
          </a:p>
        </p:txBody>
      </p:sp>
      <p:sp>
        <p:nvSpPr>
          <p:cNvPr id="21" name="Text 21"/>
          <p:cNvSpPr txBox="1"/>
          <p:nvPr/>
        </p:nvSpPr>
        <p:spPr>
          <a:xfrm>
            <a:off x="658368" y="63093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lang="ru-RU" sz="1000" b="1">
                <a:solidFill>
                  <a:srgbClr val="F4F0E8"/>
                </a:solidFill>
                <a:latin typeface="Arial"/>
                <a:ea typeface="Arial"/>
                <a:cs typeface="Arial"/>
              </a:rPr>
              <a:t>Зинов Илья  •  10 «Б» класс</a:t>
            </a:r>
            <a:endParaRPr lang="ru-RU" sz="1000"/>
          </a:p>
        </p:txBody>
      </p:sp>
      <p:sp>
        <p:nvSpPr>
          <p:cNvPr id="22" name="Text 22"/>
          <p:cNvSpPr txBox="1"/>
          <p:nvPr/>
        </p:nvSpPr>
        <p:spPr>
          <a:xfrm>
            <a:off x="10936224" y="630936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/>
          <a:lstStyle/>
          <a:p>
            <a:pPr algn="r">
              <a:spcAft>
                <a:spcPts val="400"/>
              </a:spcAft>
            </a:pPr>
            <a:r>
              <a:rPr lang="ru-RU" sz="1000" b="1">
                <a:solidFill>
                  <a:srgbClr val="E6A84A"/>
                </a:solidFill>
                <a:latin typeface="Arial"/>
                <a:ea typeface="Arial"/>
                <a:cs typeface="Arial"/>
              </a:rPr>
              <a:t>08</a:t>
            </a:r>
            <a:endParaRPr lang="ru-RU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">
  <a:themeElements>
    <a:clrScheme name="Industrial">
      <a:dk1>
        <a:srgbClr val="171A1E"/>
      </a:dk1>
      <a:lt1>
        <a:srgbClr val="F4F0E8"/>
      </a:lt1>
      <a:dk2>
        <a:srgbClr val="23282D"/>
      </a:dk2>
      <a:lt2>
        <a:srgbClr val="AEB6BC"/>
      </a:lt2>
      <a:accent1>
        <a:srgbClr val="C85C38"/>
      </a:accent1>
      <a:accent2>
        <a:srgbClr val="E6A84A"/>
      </a:accent2>
      <a:accent3>
        <a:srgbClr val="4B8A86"/>
      </a:accent3>
      <a:accent4>
        <a:srgbClr val="789A68"/>
      </a:accent4>
      <a:accent5>
        <a:srgbClr val="9DA6AD"/>
      </a:accent5>
      <a:accent6>
        <a:srgbClr val="454D54"/>
      </a:accent6>
      <a:hlink>
        <a:srgbClr val="4B8A86"/>
      </a:hlink>
      <a:folHlink>
        <a:srgbClr val="C85C38"/>
      </a:folHlink>
    </a:clrScheme>
    <a:fontScheme name="Aria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200000"/>
              </a:schemeClr>
            </a:gs>
          </a:gsLst>
          <a:lin ang="16200000" scaled="1"/>
        </a:gra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Музеи промышленной культуры России</dc:title>
  <dc:subject>Завод как музей</dc:subject>
  <dc:creator>Зинов Илья</dc:creator>
  <cp:lastModifiedBy>OpenAI Codex</cp:lastModifiedBy>
  <dcterms:created xsi:type="dcterms:W3CDTF">2026-10-21T00:00:00Z</dcterms:created>
  <dcterms:modified xsi:type="dcterms:W3CDTF">2026-10-21T00:00:00Z</dcterms:modified>
</cp:coreProperties>
</file>